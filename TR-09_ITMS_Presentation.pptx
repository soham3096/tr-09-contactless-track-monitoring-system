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mim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645920" cy="1631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0320" y="7772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BF8FF"/>
                </a:solidFill>
                <a:latin typeface="Calibri"/>
              </a:defRPr>
            </a:pPr>
            <a:r>
              <a:t>SVKM'S Narsee Monjee Institute of Management Studies</a:t>
            </a:r>
          </a:p>
          <a:p>
            <a:pPr>
              <a:defRPr sz="1200">
                <a:solidFill>
                  <a:srgbClr val="CBD5E0"/>
                </a:solidFill>
                <a:latin typeface="Calibri"/>
              </a:defRPr>
            </a:pPr>
            <a:r>
              <a:t>Mukesh Patel School of Technology Management &amp; Engineering (Shirpur Campus)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2194560"/>
          </a:xfrm>
          <a:prstGeom prst="roundRect">
            <a:avLst/>
          </a:prstGeom>
          <a:solidFill>
            <a:srgbClr val="234476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Development of Indigenous Contactless Integrated</a:t>
            </a:r>
            <a:br/>
            <a:r>
              <a:t>Track Monitoring Systems (ITMS)</a:t>
            </a:r>
          </a:p>
          <a:p>
            <a:pPr>
              <a:defRPr sz="1500" b="1">
                <a:solidFill>
                  <a:srgbClr val="63B3ED"/>
                </a:solidFill>
                <a:latin typeface="Calibri"/>
              </a:defRPr>
            </a:pPr>
            <a:r>
              <a:t>TR-09 Prototype: Architecture, Working Principle, and Technical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72865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F8FF"/>
                </a:solidFill>
                <a:latin typeface="Calibri"/>
              </a:defRPr>
            </a:pPr>
            <a:r>
              <a:t>Course: Design Experience  |  Programme: MBA Tech &amp; B.Tech Computer Engineering (2nd Year)  |  Batch: 2024–2029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Project Team:  Soham Bhosale  •  Arnav  •  Rudra Marathe</a:t>
            </a:r>
          </a:p>
          <a:p>
            <a:pPr>
              <a:defRPr sz="1200">
                <a:solidFill>
                  <a:srgbClr val="90CDF4"/>
                </a:solidFill>
                <a:latin typeface="Calibri"/>
              </a:defRPr>
            </a:pPr>
            <a:r>
              <a:t>Under the Guidance of: Prof. Chaitali Patil (Department of Computer Engineering, MPSTME)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01168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68,000+ km</a:t>
            </a:r>
          </a:p>
          <a:p>
            <a:pPr>
              <a:defRPr sz="1200" b="1">
                <a:solidFill>
                  <a:srgbClr val="2D3748"/>
                </a:solidFill>
                <a:latin typeface="Calibri"/>
              </a:defRPr>
            </a:pPr>
            <a:r>
              <a:t>Operational Track Network</a:t>
            </a:r>
          </a:p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Carrying 24 million passengers and 3.5 million tonnes freight daily.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201168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62828"/>
                </a:solidFill>
                <a:latin typeface="Calibri"/>
              </a:defRPr>
            </a:pPr>
            <a:r>
              <a:t>19% Derailments</a:t>
            </a:r>
          </a:p>
          <a:p>
            <a:pPr>
              <a:defRPr sz="1200" b="1">
                <a:solidFill>
                  <a:srgbClr val="2D3748"/>
                </a:solidFill>
                <a:latin typeface="Calibri"/>
              </a:defRPr>
            </a:pPr>
            <a:r>
              <a:t>Track Geometry Cause</a:t>
            </a:r>
          </a:p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Linked directly to gauge widening, twist, and loose fasteners (2019–2024).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201168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35% Branch Lines</a:t>
            </a:r>
          </a:p>
          <a:p>
            <a:pPr>
              <a:defRPr sz="1200" b="1">
                <a:solidFill>
                  <a:srgbClr val="2D3748"/>
                </a:solidFill>
                <a:latin typeface="Calibri"/>
              </a:defRPr>
            </a:pPr>
            <a:r>
              <a:t>Un-Instrumented Gap</a:t>
            </a:r>
          </a:p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Over 24,000 km rarely visited by ₹38-Crore imported recording coaches.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728655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10149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The Real-World Challenge on Indian Railways Branch Lines:</a:t>
            </a:r>
          </a:p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• Prohibitive Import Costs: Imported Track Recording Cars (Plasser EM-120) cost ≈ ₹38 Crore each and depend on foreign spares.</a:t>
            </a:r>
          </a:p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• Manual Foot Patrol Limitations: P-Way gangs walk 8–10 km sections every 8–9 days using manual gauge sticks and physical registers.</a:t>
            </a:r>
          </a:p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• Invisible Failure Modes: Progressive track widening (1–2 mm/year) and microscopic fatigue cracks cannot be seen by walking inspectors.</a:t>
            </a:r>
          </a:p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• The TR-09 Solution: An indigenous, contactless inspector bolted onto existing manual push trolleys for under ₹1.35 Lakhs.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02.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Objectives &amp; Engineering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Sub-Millimetre Geometry Accuracy</a:t>
            </a:r>
          </a:p>
          <a:p>
            <a:pPr>
              <a:defRPr sz="1150" b="1">
                <a:solidFill>
                  <a:srgbClr val="2E7D32"/>
                </a:solidFill>
                <a:latin typeface="Calibri"/>
              </a:defRPr>
            </a:pPr>
            <a:r>
              <a:t>±0.8 mm Gauge Accuracy</a:t>
            </a:r>
            <a:br/>
            <a:r>
              <a:t>±1.2 mm Cross-Level Accuracy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Continuous broad gauge (1676 mm) profiling using dual optical laser triangulation without physical rail contact.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Deep Learning Defect Detection</a:t>
            </a:r>
          </a:p>
          <a:p>
            <a:pPr>
              <a:defRPr sz="1150" b="1">
                <a:solidFill>
                  <a:srgbClr val="2E7D32"/>
                </a:solidFill>
                <a:latin typeface="Calibri"/>
              </a:defRPr>
            </a:pPr>
            <a:r>
              <a:t>≥ 91% Precision Gate</a:t>
            </a:r>
            <a:br/>
            <a:r>
              <a:t>≥ 87% Defect Recall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Real-time edge detection of 4 primary defect classes: Missing Fasteners, Cracked Fishplates, Ballast Voids, and Squats.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Budget Hard Cap (&lt; ₹1.35 L)</a:t>
            </a:r>
          </a:p>
          <a:p>
            <a:pPr>
              <a:defRPr sz="1150" b="1">
                <a:solidFill>
                  <a:srgbClr val="2E7D32"/>
                </a:solidFill>
                <a:latin typeface="Calibri"/>
              </a:defRPr>
            </a:pPr>
            <a:r>
              <a:t>₹1,35,500 Total Cost</a:t>
            </a:r>
            <a:br/>
            <a:r>
              <a:t>100% Indian Components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Full bill of materials sourced strictly through Indian electronics distributors with zero dependency on foreign spares.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Local-First Resilient Telemetry</a:t>
            </a:r>
          </a:p>
          <a:p>
            <a:pPr>
              <a:defRPr sz="1150" b="1">
                <a:solidFill>
                  <a:srgbClr val="2E7D32"/>
                </a:solidFill>
                <a:latin typeface="Calibri"/>
              </a:defRPr>
            </a:pPr>
            <a:r>
              <a:t>32 GB On-Device Buffer</a:t>
            </a:r>
            <a:br/>
            <a:r>
              <a:t>90s Dead-Reckoning Fallback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Zero telemetry loss in rural cutting blackouts with automatic FIFO cloud sync when 4G LTE connection restores.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03. 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System Architecture &amp; Hardware Integration</a:t>
            </a:r>
          </a:p>
        </p:txBody>
      </p:sp>
      <p:pic>
        <p:nvPicPr>
          <p:cNvPr id="5" name="Picture 4" descr="fig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4698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50292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Subsystem Specifications</a:t>
            </a:r>
          </a:p>
          <a:p>
            <a:r>
              <a:rPr b="1" sz="1000">
                <a:solidFill>
                  <a:srgbClr val="1B365D"/>
                </a:solidFill>
              </a:rPr>
              <a:t>Rig Chassis: </a:t>
            </a:r>
            <a:r>
              <a:rPr sz="950">
                <a:solidFill>
                  <a:srgbClr val="2D3748"/>
                </a:solidFill>
              </a:rPr>
              <a:t>Lightweight steel hand-trolley mount (14.6 kg total loaded payload).</a:t>
            </a:r>
          </a:p>
          <a:p>
            <a:r>
              <a:rPr b="1" sz="1000">
                <a:solidFill>
                  <a:srgbClr val="1B365D"/>
                </a:solidFill>
              </a:rPr>
              <a:t>Optical Sensors: </a:t>
            </a:r>
            <a:r>
              <a:rPr sz="950">
                <a:solidFill>
                  <a:srgbClr val="2D3748"/>
                </a:solidFill>
              </a:rPr>
              <a:t>2x Hokuyo-class laser scanners mounted on 1800 mm aluminum crossbar (40 Hz).</a:t>
            </a:r>
          </a:p>
          <a:p>
            <a:r>
              <a:rPr b="1" sz="1000">
                <a:solidFill>
                  <a:srgbClr val="1B365D"/>
                </a:solidFill>
              </a:rPr>
              <a:t>Inertial Unit: </a:t>
            </a:r>
            <a:r>
              <a:rPr sz="950">
                <a:solidFill>
                  <a:srgbClr val="2D3748"/>
                </a:solidFill>
              </a:rPr>
              <a:t>Bosch BMI270 9-axis IMU (200 Hz hardware sampling) with Sorbothane damping.</a:t>
            </a:r>
          </a:p>
          <a:p>
            <a:r>
              <a:rPr b="1" sz="1000">
                <a:solidFill>
                  <a:srgbClr val="1B365D"/>
                </a:solidFill>
              </a:rPr>
              <a:t>Navigation: </a:t>
            </a:r>
            <a:r>
              <a:rPr sz="950">
                <a:solidFill>
                  <a:srgbClr val="2D3748"/>
                </a:solidFill>
              </a:rPr>
              <a:t>u-blox ZED-F9P Multi-Band RTK-GNSS (&lt;0.05 m accuracy) + 90s Dead-Reckoning.</a:t>
            </a:r>
          </a:p>
          <a:p>
            <a:r>
              <a:rPr b="1" sz="1000">
                <a:solidFill>
                  <a:srgbClr val="1B365D"/>
                </a:solidFill>
              </a:rPr>
              <a:t>Cameras: </a:t>
            </a:r>
            <a:r>
              <a:rPr sz="950">
                <a:solidFill>
                  <a:srgbClr val="2D3748"/>
                </a:solidFill>
              </a:rPr>
              <a:t>Dual Sony IMX477 CSI 12 MP modules capturing sleeper fastener imagery.</a:t>
            </a:r>
          </a:p>
          <a:p>
            <a:r>
              <a:rPr b="1" sz="1000">
                <a:solidFill>
                  <a:srgbClr val="1B365D"/>
                </a:solidFill>
              </a:rPr>
              <a:t>Edge Compute: </a:t>
            </a:r>
            <a:r>
              <a:rPr sz="950">
                <a:solidFill>
                  <a:srgbClr val="2D3748"/>
                </a:solidFill>
              </a:rPr>
              <a:t>NVIDIA Jetson Orin Nano (8 GB, 17 TOPS INT8 edge AI, 9 W nominal draw).</a:t>
            </a:r>
          </a:p>
          <a:p>
            <a:r>
              <a:rPr b="1" sz="1000">
                <a:solidFill>
                  <a:srgbClr val="1B365D"/>
                </a:solidFill>
              </a:rPr>
              <a:t>Battery Pack: </a:t>
            </a:r>
            <a:r>
              <a:rPr sz="950">
                <a:solidFill>
                  <a:srgbClr val="2D3748"/>
                </a:solidFill>
              </a:rPr>
              <a:t>12V 18Ah LiFePO₄ pack providing 7.2 hours continuous operation (24.8 W load).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04. COST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Engineering Bill of Materials (Hard Budget: ₹1.35 Lakhs)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463040"/>
                <a:gridCol w="3413455"/>
              </a:tblGrid>
              <a:tr h="4655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 Specification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(₹)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Justification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Laser Scanners 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Hokuyo URG-04LX-class 1D/2D Triangulation Scanner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21,400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Sub-mm ranging at 0.5 m; 40 Hz sampling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IMU (9-Axis)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Bosch BMI270 (6-axis) + BMM150 (3-axis Magnetometer)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Ultra-low gyro drift (&lt;0.02°); 200 Hz sampling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RTK-GNSS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u-blox ZED-F9P Multi-Band Receiver + Active Antenna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32,900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Sub-decimetre spatial accuracy; CORS compatible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Edge 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NVIDIA Jetson Orin Nano (8 GB Unified LPDDR5)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27,800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17 TOPS edge AI inference at ~9 W power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Camera Modules 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Sony IMX477 CSI 12 MP Global-Shutter Emulation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Sharp sleeper fastener visual inspection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Cellular Modem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Quectel EC25-AF LTE Cat-4 + ESP32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6,200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Nationwide 4G telemetry with socket reconnect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Power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12V 18Ah LiFePO₄ Battery + DC-DC Step-Down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7.2 hrs continuous field runtime at 24.8 W load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Enclosure &amp;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IP65 Weatherproof ABS Cabinet + Steel Trolley 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11,300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Vibration-damped crossbar, dust and water sealed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Harnessing &amp; Misc.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Industrial M12 Connectors, SMA Cables, Fasteners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5,950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EMI-shielded industrial wiring harness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Integrated TR-09 Prototype Rig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₹1,35,500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On Budget with ₹500 contingency margin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05. THEORY &amp;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Mathematical Modeling &amp; Working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017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1. Contactless Gauge Measurement</a:t>
            </a:r>
          </a:p>
          <a:p>
            <a:br/>
            <a:pPr>
              <a:defRPr sz="1050" b="1">
                <a:solidFill>
                  <a:srgbClr val="C62828"/>
                </a:solidFill>
                <a:latin typeface="Consolas"/>
              </a:defRPr>
            </a:pPr>
            <a:r>
              <a:t>G(t) = W_frame - [d_left(t) + d_right(t)]</a:t>
            </a:r>
            <a:br/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• Rigid crossbeam width: W_frame = 1800.0 mm</a:t>
            </a:r>
            <a:br/>
            <a:r>
              <a:t>• Nominal distance to each rail: (1800 - 1676)/2 = 62.0 mm</a:t>
            </a:r>
            <a:br/>
            <a:r>
              <a:t>• If rails widen (slack gauge), d_left + d_right decreases</a:t>
            </a:r>
            <a:br/>
            <a:r>
              <a:t>• Instantaneous Deviation: ΔG(t) = G(t) - 1676.0 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3017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2. Cross-Level (Cant / Super-Elevation)</a:t>
            </a:r>
          </a:p>
          <a:p>
            <a:br/>
            <a:pPr>
              <a:defRPr sz="1050" b="1">
                <a:solidFill>
                  <a:srgbClr val="C62828"/>
                </a:solidFill>
                <a:latin typeface="Consolas"/>
              </a:defRPr>
            </a:pPr>
            <a:r>
              <a:t>h(t) = G(t) · sin[θ_roll(t)]</a:t>
            </a:r>
            <a:br/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• Measures elevation difference h between left &amp; right rails</a:t>
            </a:r>
            <a:br/>
            <a:r>
              <a:t>• Measured via roll angle θ_roll from Bosch BMI270 9-axis IMU</a:t>
            </a:r>
            <a:br/>
            <a:r>
              <a:t>• Small angle approximation: h ≈ 1676.0 · [θ_roll · (π/180)]</a:t>
            </a:r>
            <a:br/>
            <a:r>
              <a:t>• A tilt of 0.222° corresponds to h = +6.5 mm cant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017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3. Spatial Track Twist Calculation</a:t>
            </a:r>
          </a:p>
          <a:p>
            <a:br/>
            <a:pPr>
              <a:defRPr sz="1050" b="1">
                <a:solidFill>
                  <a:srgbClr val="C62828"/>
                </a:solidFill>
                <a:latin typeface="Consolas"/>
              </a:defRPr>
            </a:pPr>
            <a:r>
              <a:t>T(t) = |h(t) - h(t - Δx)| / Δx</a:t>
            </a:r>
            <a:br/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• Rate of change of cross-level along track axis</a:t>
            </a:r>
            <a:br/>
            <a:r>
              <a:t>• Evaluated over standard chord base: Δx = 3.0 metres</a:t>
            </a:r>
            <a:br/>
            <a:r>
              <a:t>• RDSO Maximum Permissible Safe Limit: T(t) ≤ 2.8 mm/m</a:t>
            </a:r>
            <a:br/>
            <a:r>
              <a:t>• Excessive twist causes wheel unloading and derailment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06. FUSION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Sensor Fusion &amp; Data Processing Pipeline</a:t>
            </a:r>
          </a:p>
        </p:txBody>
      </p:sp>
      <p:pic>
        <p:nvPicPr>
          <p:cNvPr id="5" name="Picture 4" descr="fig2_sensor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1698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50292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Fusion Architecture Details</a:t>
            </a:r>
          </a:p>
          <a:p>
            <a:r>
              <a:rPr b="1" sz="1000">
                <a:solidFill>
                  <a:srgbClr val="1B365D"/>
                </a:solidFill>
              </a:rPr>
              <a:t>Multi-Rate Synchronization: </a:t>
            </a:r>
            <a:r>
              <a:rPr sz="950">
                <a:solidFill>
                  <a:srgbClr val="2D3748"/>
                </a:solidFill>
              </a:rPr>
              <a:t>Sensors sample at native rates (IMU 200 Hz, Lasers 40 Hz, GNSS 10 Hz, Cameras 30 fps) into lock-free ring buffers.</a:t>
            </a:r>
          </a:p>
          <a:p>
            <a:r>
              <a:rPr b="1" sz="1000">
                <a:solidFill>
                  <a:srgbClr val="1B365D"/>
                </a:solidFill>
              </a:rPr>
              <a:t>De-Spiking Filter: </a:t>
            </a:r>
            <a:r>
              <a:rPr sz="950">
                <a:solidFill>
                  <a:srgbClr val="2D3748"/>
                </a:solidFill>
              </a:rPr>
              <a:t>5-point moving median filter eliminates transient optical reflections from polished rail heads.</a:t>
            </a:r>
          </a:p>
          <a:p>
            <a:r>
              <a:rPr b="1" sz="1000">
                <a:solidFill>
                  <a:srgbClr val="1B365D"/>
                </a:solidFill>
              </a:rPr>
              <a:t>Kalman State Fusion: </a:t>
            </a:r>
            <a:r>
              <a:rPr sz="950">
                <a:solidFill>
                  <a:srgbClr val="2D3748"/>
                </a:solidFill>
              </a:rPr>
              <a:t>Fuses laser and IMU vectors into a stable 5 Hz (200 ms) synchronized track geometry state.</a:t>
            </a:r>
          </a:p>
          <a:p>
            <a:r>
              <a:rPr b="1" sz="1000">
                <a:solidFill>
                  <a:srgbClr val="1B365D"/>
                </a:solidFill>
              </a:rPr>
              <a:t>90s Dead-Reckoning: </a:t>
            </a:r>
            <a:r>
              <a:rPr sz="950">
                <a:solidFill>
                  <a:srgbClr val="2D3748"/>
                </a:solidFill>
              </a:rPr>
              <a:t>When RTK-GNSS loses line-of-sight in cuttings or under bridges, the IMU dead-reckons position for up to 90 seconds.</a:t>
            </a:r>
          </a:p>
          <a:p>
            <a:r>
              <a:rPr b="1" sz="1000">
                <a:solidFill>
                  <a:srgbClr val="1B365D"/>
                </a:solidFill>
              </a:rPr>
              <a:t>Resilient Telemetry: </a:t>
            </a:r>
            <a:r>
              <a:rPr sz="950">
                <a:solidFill>
                  <a:srgbClr val="2D3748"/>
                </a:solidFill>
              </a:rPr>
              <a:t>Every sample writes immediately to a 32 GB local buffer before LTE transmission, ensuring zero data loss during signal drops.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07. EDGE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Deep Learning Defect Detection Pipeline</a:t>
            </a:r>
          </a:p>
        </p:txBody>
      </p:sp>
      <p:pic>
        <p:nvPicPr>
          <p:cNvPr id="5" name="Picture 4" descr="fig5_defect_detect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33678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371600"/>
            <a:ext cx="4480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508760"/>
            <a:ext cx="4114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4 Target Rail Defect Classes</a:t>
            </a:r>
          </a:p>
          <a:p>
            <a:r>
              <a:rPr b="1" sz="1000">
                <a:solidFill>
                  <a:srgbClr val="C62828"/>
                </a:solidFill>
              </a:rPr>
              <a:t>1. Missing Fastener (ERC): </a:t>
            </a:r>
            <a:r>
              <a:rPr sz="950">
                <a:solidFill>
                  <a:srgbClr val="2D3748"/>
                </a:solidFill>
              </a:rPr>
              <a:t>Detects missing or dislodged elastic rail clips from sleeper seats. Gauge widening hazard.</a:t>
            </a:r>
          </a:p>
          <a:p>
            <a:r>
              <a:rPr b="1" sz="1000">
                <a:solidFill>
                  <a:srgbClr val="C62828"/>
                </a:solidFill>
              </a:rPr>
              <a:t>2. Cracked Fishplate: </a:t>
            </a:r>
            <a:r>
              <a:rPr sz="950">
                <a:solidFill>
                  <a:srgbClr val="2D3748"/>
                </a:solidFill>
              </a:rPr>
              <a:t>Fatigue crack propagating through joint bar bolt holes. Joint collapse hazard.</a:t>
            </a:r>
          </a:p>
          <a:p>
            <a:r>
              <a:rPr b="1" sz="1000">
                <a:solidFill>
                  <a:srgbClr val="C62828"/>
                </a:solidFill>
              </a:rPr>
              <a:t>3. Ballast Deficiency: </a:t>
            </a:r>
            <a:r>
              <a:rPr sz="950">
                <a:solidFill>
                  <a:srgbClr val="2D3748"/>
                </a:solidFill>
              </a:rPr>
              <a:t>Erosion void cavity exposing sleeper base near culverts. Track settlement hazard.</a:t>
            </a:r>
          </a:p>
          <a:p>
            <a:r>
              <a:rPr b="1" sz="1000">
                <a:solidFill>
                  <a:srgbClr val="C62828"/>
                </a:solidFill>
              </a:rPr>
              <a:t>4. Surface Squat: </a:t>
            </a:r>
            <a:r>
              <a:rPr sz="950">
                <a:solidFill>
                  <a:srgbClr val="2D3748"/>
                </a:solidFill>
              </a:rPr>
              <a:t>Rolling Contact Fatigue (RCF) indentation micro-fissure on rail head running surface.</a:t>
            </a:r>
          </a:p>
          <a:p>
            <a:br/>
            <a:pPr>
              <a:defRPr sz="1100" b="1">
                <a:solidFill>
                  <a:srgbClr val="1B365D"/>
                </a:solidFill>
                <a:latin typeface="Calibri"/>
              </a:defRPr>
            </a:pPr>
            <a:r>
              <a:t>91% Confidence Gating Architecture:</a:t>
            </a:r>
          </a:p>
          <a:p>
            <a:pPr>
              <a:defRPr sz="950">
                <a:solidFill>
                  <a:srgbClr val="2D3748"/>
                </a:solidFill>
                <a:latin typeface="Calibri"/>
              </a:defRPr>
            </a:pPr>
            <a:r>
              <a:t>Only defects detected with ≥91% confidence emit critical alerts. Borderline frames (&lt;91%) are logged for offline review, preventing false-alarm fatigue.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08.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Native Desktop Inspection Software (Tkinter + Matplotlib)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100% Native Python GUI</a:t>
            </a:r>
          </a:p>
          <a:p>
            <a:pPr>
              <a:defRPr sz="1100" b="1">
                <a:solidFill>
                  <a:srgbClr val="2B6CB0"/>
                </a:solidFill>
                <a:latin typeface="Calibri"/>
              </a:defRPr>
            </a:pPr>
            <a:r>
              <a:t>Zero Web Lag / No Browser Needed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Runs directly on desktop via `python main.py`. Built using standard library Tkinter and Matplotlib without external web server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Digital Telemetry Gauges</a:t>
            </a:r>
          </a:p>
          <a:p>
            <a:pPr>
              <a:defRPr sz="1100" b="1">
                <a:solidFill>
                  <a:srgbClr val="2B6CB0"/>
                </a:solidFill>
                <a:latin typeface="Calibri"/>
              </a:defRPr>
            </a:pPr>
            <a:r>
              <a:t>Instant Visual Safety Badges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Displays real-time Broad Gauge, Cross-Level, and Twist with dynamic color badges: Green for NORMAL, Orange for WARNING, Red for CRITICAL.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Live Dynamic Charting</a:t>
            </a:r>
          </a:p>
          <a:p>
            <a:pPr>
              <a:defRPr sz="1100" b="1">
                <a:solidFill>
                  <a:srgbClr val="2B6CB0"/>
                </a:solidFill>
                <a:latin typeface="Calibri"/>
              </a:defRPr>
            </a:pPr>
            <a:r>
              <a:t>RDSO Safety Limit Boundaries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Embedded Matplotlib canvas plots measured gauge in real time against upper (+6 mm) and lower (-3 mm) RDSO tolerance envelopes.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Real-Time Defect Viewer</a:t>
            </a:r>
          </a:p>
          <a:p>
            <a:pPr>
              <a:defRPr sz="1100" b="1">
                <a:solidFill>
                  <a:srgbClr val="2B6CB0"/>
                </a:solidFill>
                <a:latin typeface="Calibri"/>
              </a:defRPr>
            </a:pPr>
            <a:r>
              <a:t>Bounding Boxes &amp; Confidence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Displays camera inspection images with red bounding boxes and confidence percentage whenever a defect crosses the 91% threshold.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09. EMPIRICAL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Experimental Validation &amp; Measured Results</a:t>
            </a:r>
          </a:p>
        </p:txBody>
      </p:sp>
      <p:pic>
        <p:nvPicPr>
          <p:cNvPr id="5" name="Picture 4" descr="fig3_projec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3010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931920"/>
            <a:ext cx="107286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0149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7D32"/>
                </a:solidFill>
                <a:latin typeface="Calibri"/>
              </a:defRPr>
            </a:pPr>
            <a:r>
              <a:t>Key Empirical Test Results (1.5 km Siding Validation):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✔ Gauge Accuracy: Achieved ±0.62 mm average gauge error against reference manual vernier trolley (Benchmark target: ±0.8 mm).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✔ Cross-Level Accuracy: Achieved ±0.88 mm average cross-level error across 1.5 km siding (Benchmark target: ±1.2 mm).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✔ High Repeatability: Measured standard deviation σ = 0.38 mm gauge over 5 consecutive passes along the identical track siding.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✔ Blinded Defect Trial: Correctly identified 8 out of 8 blinded injected defects (6 loose clips, 2 cracked plates) with 100% detection rate.</a:t>
            </a:r>
          </a:p>
          <a:p>
            <a:pPr>
              <a:defRPr sz="1000">
                <a:solidFill>
                  <a:srgbClr val="2D3748"/>
                </a:solidFill>
                <a:latin typeface="Calibri"/>
              </a:defRPr>
            </a:pPr>
            <a:r>
              <a:t>✔ Thermal Stability: Continuous 6-hour summer endurance run at 41.5 °C; internal cabinet stabilized at 58.4 °C (well below 71 °C limit).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10. COST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Economic Feasibility &amp; Cost-Benefit Analysis</a:t>
            </a:r>
          </a:p>
        </p:txBody>
      </p:sp>
      <p:pic>
        <p:nvPicPr>
          <p:cNvPr id="5" name="Picture 4" descr="fig6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0531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50292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Why the Economics Matter</a:t>
            </a:r>
          </a:p>
          <a:p>
            <a:r>
              <a:rPr b="1" sz="1000">
                <a:solidFill>
                  <a:srgbClr val="1B365D"/>
                </a:solidFill>
              </a:rPr>
              <a:t>Imported TRC (Plasser EM-120): </a:t>
            </a:r>
            <a:r>
              <a:rPr sz="950">
                <a:solidFill>
                  <a:srgbClr val="2D3748"/>
                </a:solidFill>
              </a:rPr>
              <a:t>Cost: ≈ ₹38 Crore per unit. High foreign spare dependency. Disregards 35% of network (branch lines).</a:t>
            </a:r>
          </a:p>
          <a:p>
            <a:r>
              <a:rPr b="1" sz="1000">
                <a:solidFill>
                  <a:srgbClr val="1B365D"/>
                </a:solidFill>
              </a:rPr>
              <a:t>Imported ITMS Coach: </a:t>
            </a:r>
            <a:r>
              <a:rPr sz="950">
                <a:solidFill>
                  <a:srgbClr val="2D3748"/>
                </a:solidFill>
              </a:rPr>
              <a:t>Cost: ₹60 to 110 Crore. Severe vendor lock-in and expensive annual software licensing.</a:t>
            </a:r>
          </a:p>
          <a:p>
            <a:r>
              <a:rPr b="1" sz="1000">
                <a:solidFill>
                  <a:srgbClr val="1B365D"/>
                </a:solidFill>
              </a:rPr>
              <a:t>TR-09 ITMS Rig: </a:t>
            </a:r>
            <a:r>
              <a:rPr sz="950">
                <a:solidFill>
                  <a:srgbClr val="2D3748"/>
                </a:solidFill>
              </a:rPr>
              <a:t>Cost: ₹1.35 Lakh (₹1,35,500). Delivers sub-millimetre digital inspection on standard push trolleys.</a:t>
            </a:r>
          </a:p>
          <a:p>
            <a:r>
              <a:rPr b="1" sz="1000">
                <a:solidFill>
                  <a:srgbClr val="1B365D"/>
                </a:solidFill>
              </a:rPr>
              <a:t>Massive 2,800× Cost Advantage: </a:t>
            </a:r>
            <a:r>
              <a:rPr sz="950">
                <a:solidFill>
                  <a:srgbClr val="2D3748"/>
                </a:solidFill>
              </a:rPr>
              <a:t>An entire railway division can deploy multiple TR-09 trolleys for less than the cost of one imported replacement sensor head.</a:t>
            </a:r>
          </a:p>
          <a:p>
            <a:r>
              <a:rPr b="1" sz="1000">
                <a:solidFill>
                  <a:srgbClr val="1B365D"/>
                </a:solidFill>
              </a:rPr>
              <a:t>Frequent Digital Audits: </a:t>
            </a:r>
            <a:r>
              <a:rPr sz="950">
                <a:solidFill>
                  <a:srgbClr val="2D3748"/>
                </a:solidFill>
              </a:rPr>
              <a:t>Replaces bi-annual imported surveys with bi-weekly objective, geo-tagged inspection on rural branch 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B3ED"/>
                </a:solidFill>
                <a:latin typeface="Calibri"/>
              </a:defRPr>
            </a:pPr>
            <a:r>
              <a:t>11. SUMMARY &amp;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Conclusion &amp; Technical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Project Conclusions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Validated Technical Feasibility: Proved that sub-millimetre contactless track monitoring and AI defect detection are achievable on a low-cost edge platform.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Budget Discipline: Delivered the entire functional prototype within ₹1,35,500, sourcing 100% of components from Indian distributors.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Branch Line Impact: Provides a practical, deployable solution to eliminate the 35% safety blind spot on Indian Railways branch corridors.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Open Reference Design: Code, hardware schematics, and 12,000 labelled frames released openly on GitHub for future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Future Technical Roadmap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Ultrasonic Internal Flaw Testing: Integrating electromagnetic acoustic transducers (EMAT) to detect internal sub-surface fatigue cracks in rail webs.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Motorized Autonomous Patrol: Adding a low-power brushless DC hub motor with LiDAR collision avoidance for autonomous section patrolling between train blocks.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Direct Indian Railways TMS Sync: Developing API microservices complying with the Indian Railway Track Management System (IRPSM) schema for direct work-order creation.</a:t>
            </a:r>
          </a:p>
          <a:p>
            <a:pPr>
              <a:defRPr sz="1050">
                <a:solidFill>
                  <a:srgbClr val="2D3748"/>
                </a:solidFill>
                <a:latin typeface="Calibri"/>
              </a:defRPr>
            </a:pPr>
            <a:r>
              <a:t>• Catenary OHE Integration: Adding upward-facing line-scan cameras for automated pantograph and overhead contact wire wear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234476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7955279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63B3ED"/>
                </a:solidFill>
                <a:latin typeface="Calibri"/>
              </a:defRPr>
            </a:pPr>
            <a:r>
              <a:t>Questions &amp; Faculty Evaluation</a:t>
            </a:r>
          </a:p>
          <a:p>
            <a:br/>
            <a:pPr algn="ctr">
              <a:defRPr sz="1200">
                <a:solidFill>
                  <a:srgbClr val="EBF8FF"/>
                </a:solidFill>
                <a:latin typeface="Calibri"/>
              </a:defRPr>
            </a:pPr>
            <a:r>
              <a:t>TR-09: Indigenous Contactless Integrated Track Monitoring System (ITMS)</a:t>
            </a:r>
            <a:br/>
            <a:r>
              <a:t>Project Team: Soham Bhosale  •  Arnav  •  Rudra Marathe</a:t>
            </a:r>
            <a:br/>
            <a:r>
              <a:t>Faculty Mentor: Prof. Chaitali Patil</a:t>
            </a:r>
            <a:br/>
            <a:r>
              <a:t>Department of Computer Engineering, MPSTME, SVKM's NMIMS</a:t>
            </a:r>
            <a:br/>
            <a:br/>
            <a:r>
              <a:t>GitHub: https://github.com/soham3096/TR-09-Contactless-Track-Monitoring-System</a:t>
            </a:r>
            <a:br/>
            <a:r>
              <a:t>Execution: python main.py (Native Desktop GUI)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